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d09613a-2a2c-f7f0-2c9c-a18d13a10bea}">
          <p14:sldIdLst>
            <p14:sldId id="256"/>
            <p14:sldId id="257"/>
            <p14:sldId id="258"/>
            <p14:sldId id="259"/>
          </p14:sldIdLst>
        </p14:section>
        <p14:section name="Design" id="{66c10870-434a-388d-1147-a7f24c8caef9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Implementation" id="{9e3151b2-0589-33ce-b013-98e5a70006af}">
          <p14:sldIdLst>
            <p14:sldId id="267"/>
            <p14:sldId id="268"/>
          </p14:sldIdLst>
        </p14:section>
        <p14:section name="Closing" id="{6ad30626-e2f5-4436-28b1-c570a803968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818120" y="-548640"/>
            <a:ext cx="1554480" cy="155448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3" name="Decor"/>
          <p:cNvSpPr/>
          <p:nvPr/>
        </p:nvSpPr>
        <p:spPr>
          <a:xfrm>
            <a:off x="7955280" y="4160520"/>
            <a:ext cx="640080" cy="640080"/>
          </a:xfrm>
          <a:prstGeom prst="ellipse">
            <a:avLst/>
          </a:prstGeom>
          <a:solidFill>
            <a:schemeClr val="accent5">
              <a:alpha val="80000"/>
            </a:schemeClr>
          </a:solidFill>
          <a:ln/>
        </p:spPr>
      </p:sp>
      <p:sp>
        <p:nvSpPr>
          <p:cNvPr id="4" name="Decor"/>
          <p:cNvSpPr/>
          <p:nvPr/>
        </p:nvSpPr>
        <p:spPr>
          <a:xfrm>
            <a:off x="8458200" y="3749040"/>
            <a:ext cx="365760" cy="365760"/>
          </a:xfrm>
          <a:prstGeom prst="ellipse">
            <a:avLst/>
          </a:prstGeom>
          <a:solidFill>
            <a:schemeClr val="accent4">
              <a:alpha val="80000"/>
            </a:schemeClr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5486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Car Rentals &amp; Mobility App</a:t>
            </a:r>
            <a:endParaRPr lang="en-US" sz="38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Design and Development for Rental Self Service</a:t>
            </a:r>
            <a:endParaRPr lang="en-US" sz="1800" dirty="0"/>
          </a:p>
        </p:txBody>
      </p:sp>
      <p:sp>
        <p:nvSpPr>
          <p:cNvPr id="7" name="Tagline"/>
          <p:cNvSpPr txBox="1"/>
          <p:nvPr/>
        </p:nvSpPr>
        <p:spPr>
          <a:xfrm>
            <a:off x="548640" y="2468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web-based platform to search, book, pay, pick up and return a car without a rental counter, backed by a relational database.</a:t>
            </a:r>
            <a:endParaRPr lang="en-US" sz="1300" dirty="0"/>
          </a:p>
        </p:txBody>
      </p:sp>
      <p:sp>
        <p:nvSpPr>
          <p:cNvPr id="8" name="Team"/>
          <p:cNvSpPr txBox="1"/>
          <p:nvPr/>
        </p:nvSpPr>
        <p:spPr>
          <a:xfrm>
            <a:off x="548640" y="3246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Team Members (Team No. 9)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2520030122 – Akshith Reddy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2520030026 – B. Pranavi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2520030140 – V. Charishma</a:t>
            </a:r>
            <a:endParaRPr lang="en-US" sz="1200" dirty="0"/>
          </a:p>
        </p:txBody>
      </p:sp>
      <p:sp>
        <p:nvSpPr>
          <p:cNvPr id="9" name="Guide"/>
          <p:cNvSpPr txBox="1"/>
          <p:nvPr/>
        </p:nvSpPr>
        <p:spPr>
          <a:xfrm>
            <a:off x="54864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Guide: Dr. S. Spandana  |  Department of CSE, KL University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Section-07  |  Database Systems Engineering and Distributed Backend Development (25CS1302E)</a:t>
            </a:r>
            <a:endParaRPr lang="en-US" sz="1000" dirty="0"/>
          </a:p>
        </p:txBody>
      </p:sp>
      <p:sp>
        <p:nvSpPr>
          <p:cNvPr id="10" name="Showcase card"/>
          <p:cNvSpPr/>
          <p:nvPr/>
        </p:nvSpPr>
        <p:spPr>
          <a:xfrm>
            <a:off x="5532120" y="914400"/>
            <a:ext cx="3108960" cy="2651760"/>
          </a:xfrm>
          <a:prstGeom prst="roundRect">
            <a:avLst>
              <a:gd name="adj" fmla="val 5172"/>
            </a:avLst>
          </a:prstGeom>
          <a:solidFill>
            <a:schemeClr val="bg1"/>
          </a:solidFill>
          <a:ln/>
        </p:spPr>
      </p:sp>
      <p:pic>
        <p:nvPicPr>
          <p:cNvPr id="11" name="Honda City" descr="img/c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005840"/>
            <a:ext cx="2377440" cy="1554480"/>
          </a:xfrm>
          <a:prstGeom prst="rect">
            <a:avLst/>
          </a:prstGeom>
        </p:spPr>
      </p:pic>
      <p:sp>
        <p:nvSpPr>
          <p:cNvPr id="12" name="Workflow caption"/>
          <p:cNvSpPr txBox="1"/>
          <p:nvPr/>
        </p:nvSpPr>
        <p:spPr>
          <a:xfrm>
            <a:off x="5669280" y="2743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Search → Select → Book → Pay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Pick Up → Ride → Return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Abstract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Car Rentals &amp; Mobility App for Rental Self Service</a:t>
            </a:r>
            <a:endParaRPr lang="en-US" sz="1300" dirty="0"/>
          </a:p>
        </p:txBody>
      </p:sp>
      <p:sp>
        <p:nvSpPr>
          <p:cNvPr id="4" name="Abstract points"/>
          <p:cNvSpPr txBox="1"/>
          <p:nvPr/>
        </p:nvSpPr>
        <p:spPr>
          <a:xfrm>
            <a:off x="457200" y="1280160"/>
            <a:ext cx="8229600" cy="3337560"/>
          </a:xfrm>
          <a:prstGeom prst="roundRect">
            <a:avLst>
              <a:gd name="adj" fmla="val 2740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lIns="101600" tIns="228600" rIns="228600" bIns="1016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Renting a car is still slow and manual: office visits, paperwork and waiting for staff.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project is a web-based self-service platform for renting cars.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Users search cars by location and dates, compare prices, book and pay online.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Users can track booking status and view their full rental history.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rental amount is calculated automatically.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same car can never be booked twice for the same period.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Admins manage vehicles, bookings, customers, returns and revenue.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 with HTML, CSS, JavaScript, Node.js, Express and MySQL.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Why traditional car rental falls short</a:t>
            </a:r>
            <a:endParaRPr lang="en-US" sz="1300" dirty="0"/>
          </a:p>
        </p:txBody>
      </p:sp>
      <p:sp>
        <p:nvSpPr>
          <p:cNvPr id="4" name="Card: Time-consuming process"/>
          <p:cNvSpPr txBox="1"/>
          <p:nvPr/>
        </p:nvSpPr>
        <p:spPr>
          <a:xfrm>
            <a:off x="457200" y="1280160"/>
            <a:ext cx="2615184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4000"/>
            </a:schemeClr>
          </a:solidFill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Time-consuming process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Enquiry, documents, payment and handover must all be done in person.</a:t>
            </a:r>
            <a:endParaRPr lang="en-US" sz="1500" dirty="0"/>
          </a:p>
        </p:txBody>
      </p:sp>
      <p:sp>
        <p:nvSpPr>
          <p:cNvPr id="5" name="Card: No availability information"/>
          <p:cNvSpPr txBox="1"/>
          <p:nvPr/>
        </p:nvSpPr>
        <p:spPr>
          <a:xfrm>
            <a:off x="3264408" y="1280160"/>
            <a:ext cx="2615184" cy="1280160"/>
          </a:xfrm>
          <a:prstGeom prst="roundRect">
            <a:avLst>
              <a:gd name="adj" fmla="val 7143"/>
            </a:avLst>
          </a:prstGeom>
          <a:solidFill>
            <a:schemeClr val="accent2">
              <a:alpha val="14000"/>
            </a:schemeClr>
          </a:solidFill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No availability information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Customers cannot see which vehicles are free for their dates.</a:t>
            </a:r>
            <a:endParaRPr lang="en-US" sz="1500" dirty="0"/>
          </a:p>
        </p:txBody>
      </p:sp>
      <p:sp>
        <p:nvSpPr>
          <p:cNvPr id="6" name="Card: Hard to compare prices"/>
          <p:cNvSpPr txBox="1"/>
          <p:nvPr/>
        </p:nvSpPr>
        <p:spPr>
          <a:xfrm>
            <a:off x="6071616" y="1280160"/>
            <a:ext cx="2615184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4000"/>
            </a:schemeClr>
          </a:solidFill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Hard to compare prices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Categories, fuel types and rates are shared verbally or in brochures.</a:t>
            </a:r>
            <a:endParaRPr lang="en-US" sz="1500" dirty="0"/>
          </a:p>
        </p:txBody>
      </p:sp>
      <p:sp>
        <p:nvSpPr>
          <p:cNvPr id="7" name="Card: Manual operations"/>
          <p:cNvSpPr txBox="1"/>
          <p:nvPr/>
        </p:nvSpPr>
        <p:spPr>
          <a:xfrm>
            <a:off x="457200" y="2697480"/>
            <a:ext cx="2615184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4000"/>
            </a:schemeClr>
          </a:solidFill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Manual operations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Booking, payment and return depend on staff, causing clerical errors.</a:t>
            </a:r>
            <a:endParaRPr lang="en-US" sz="1500" dirty="0"/>
          </a:p>
        </p:txBody>
      </p:sp>
      <p:sp>
        <p:nvSpPr>
          <p:cNvPr id="8" name="Card: Double booking"/>
          <p:cNvSpPr txBox="1"/>
          <p:nvPr/>
        </p:nvSpPr>
        <p:spPr>
          <a:xfrm>
            <a:off x="3264408" y="2697480"/>
            <a:ext cx="2615184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4000"/>
            </a:schemeClr>
          </a:solidFill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Double booking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same vehicle can be promised twice for overlapping periods.</a:t>
            </a:r>
            <a:endParaRPr lang="en-US" sz="1500" dirty="0"/>
          </a:p>
        </p:txBody>
      </p:sp>
      <p:sp>
        <p:nvSpPr>
          <p:cNvPr id="9" name="Card: Poor record keeping"/>
          <p:cNvSpPr txBox="1"/>
          <p:nvPr/>
        </p:nvSpPr>
        <p:spPr>
          <a:xfrm>
            <a:off x="6071616" y="2697480"/>
            <a:ext cx="2615184" cy="1280160"/>
          </a:xfrm>
          <a:prstGeom prst="roundRect">
            <a:avLst>
              <a:gd name="adj" fmla="val 7143"/>
            </a:avLst>
          </a:prstGeom>
          <a:solidFill>
            <a:schemeClr val="accent6">
              <a:alpha val="14000"/>
            </a:schemeClr>
          </a:solidFill>
          <a:ln/>
        </p:spPr>
        <p:txBody>
          <a:bodyPr wrap="square" lIns="101600" tIns="127000" rIns="127000" bIns="762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Poor record keeping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Rental history and payments are hard to trace for planning.</a:t>
            </a:r>
            <a:endParaRPr lang="en-US" sz="1500" dirty="0"/>
          </a:p>
        </p:txBody>
      </p:sp>
      <p:sp>
        <p:nvSpPr>
          <p:cNvPr id="10" name="Callout"/>
          <p:cNvSpPr txBox="1"/>
          <p:nvPr/>
        </p:nvSpPr>
        <p:spPr>
          <a:xfrm>
            <a:off x="457200" y="4114800"/>
            <a:ext cx="8138160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Need: a simple, reliable self-service platform with real-time access and one consistent record of every rental.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What the system is designed to achieve</a:t>
            </a:r>
            <a:endParaRPr lang="en-US" sz="1300" dirty="0"/>
          </a:p>
        </p:txBody>
      </p:sp>
      <p:sp>
        <p:nvSpPr>
          <p:cNvPr id="4" name="Objective card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566928" y="138988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Objective text"/>
          <p:cNvSpPr txBox="1"/>
          <p:nvPr/>
        </p:nvSpPr>
        <p:spPr>
          <a:xfrm>
            <a:off x="548640" y="17556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Easy booking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Search and reserve a vehicle in a few steps.</a:t>
            </a:r>
            <a:endParaRPr lang="en-US" sz="1300" dirty="0"/>
          </a:p>
        </p:txBody>
      </p:sp>
      <p:sp>
        <p:nvSpPr>
          <p:cNvPr id="7" name="Objective card"/>
          <p:cNvSpPr/>
          <p:nvPr/>
        </p:nvSpPr>
        <p:spPr>
          <a:xfrm>
            <a:off x="2542032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2651760" y="1389888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Objective text"/>
          <p:cNvSpPr txBox="1"/>
          <p:nvPr/>
        </p:nvSpPr>
        <p:spPr>
          <a:xfrm>
            <a:off x="2633472" y="17556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Save time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Remove waiting and manual paperwork.</a:t>
            </a:r>
            <a:endParaRPr lang="en-US" sz="1300" dirty="0"/>
          </a:p>
        </p:txBody>
      </p:sp>
      <p:sp>
        <p:nvSpPr>
          <p:cNvPr id="10" name="Objective card"/>
          <p:cNvSpPr/>
          <p:nvPr/>
        </p:nvSpPr>
        <p:spPr>
          <a:xfrm>
            <a:off x="4626864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11" name="Badge 3"/>
          <p:cNvSpPr txBox="1"/>
          <p:nvPr/>
        </p:nvSpPr>
        <p:spPr>
          <a:xfrm>
            <a:off x="4736592" y="13898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Objective text"/>
          <p:cNvSpPr txBox="1"/>
          <p:nvPr/>
        </p:nvSpPr>
        <p:spPr>
          <a:xfrm>
            <a:off x="4718304" y="17556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Live availability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Show only cars free for the chosen place and period.</a:t>
            </a:r>
            <a:endParaRPr lang="en-US" sz="1300" dirty="0"/>
          </a:p>
        </p:txBody>
      </p:sp>
      <p:sp>
        <p:nvSpPr>
          <p:cNvPr id="13" name="Objective card"/>
          <p:cNvSpPr/>
          <p:nvPr/>
        </p:nvSpPr>
        <p:spPr>
          <a:xfrm>
            <a:off x="6711696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14" name="Badge 4"/>
          <p:cNvSpPr txBox="1"/>
          <p:nvPr/>
        </p:nvSpPr>
        <p:spPr>
          <a:xfrm>
            <a:off x="6821424" y="1389888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Objective text"/>
          <p:cNvSpPr txBox="1"/>
          <p:nvPr/>
        </p:nvSpPr>
        <p:spPr>
          <a:xfrm>
            <a:off x="6803136" y="17556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Secure transactions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Reliable payment and booking records; hashed passwords.</a:t>
            </a:r>
            <a:endParaRPr lang="en-US" sz="1300" dirty="0"/>
          </a:p>
        </p:txBody>
      </p:sp>
      <p:sp>
        <p:nvSpPr>
          <p:cNvPr id="16" name="Objective card"/>
          <p:cNvSpPr/>
          <p:nvPr/>
        </p:nvSpPr>
        <p:spPr>
          <a:xfrm>
            <a:off x="457200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5">
              <a:alpha val="14000"/>
            </a:schemeClr>
          </a:solidFill>
          <a:ln/>
        </p:spPr>
      </p:sp>
      <p:sp>
        <p:nvSpPr>
          <p:cNvPr id="17" name="Badge 5"/>
          <p:cNvSpPr txBox="1"/>
          <p:nvPr/>
        </p:nvSpPr>
        <p:spPr>
          <a:xfrm>
            <a:off x="566928" y="3035808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Objective text"/>
          <p:cNvSpPr txBox="1"/>
          <p:nvPr/>
        </p:nvSpPr>
        <p:spPr>
          <a:xfrm>
            <a:off x="548640" y="3401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Better experience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Simple, responsive and user-friendly interface.</a:t>
            </a:r>
            <a:endParaRPr lang="en-US" sz="1300" dirty="0"/>
          </a:p>
        </p:txBody>
      </p:sp>
      <p:sp>
        <p:nvSpPr>
          <p:cNvPr id="19" name="Objective card"/>
          <p:cNvSpPr/>
          <p:nvPr/>
        </p:nvSpPr>
        <p:spPr>
          <a:xfrm>
            <a:off x="2542032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20" name="Badge 6"/>
          <p:cNvSpPr txBox="1"/>
          <p:nvPr/>
        </p:nvSpPr>
        <p:spPr>
          <a:xfrm>
            <a:off x="2651760" y="3035808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Objective text"/>
          <p:cNvSpPr txBox="1"/>
          <p:nvPr/>
        </p:nvSpPr>
        <p:spPr>
          <a:xfrm>
            <a:off x="2633472" y="3401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Efficient management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dashboard for vehicles, bookings and customers.</a:t>
            </a:r>
            <a:endParaRPr lang="en-US" sz="1300" dirty="0"/>
          </a:p>
        </p:txBody>
      </p:sp>
      <p:sp>
        <p:nvSpPr>
          <p:cNvPr id="22" name="Objective card"/>
          <p:cNvSpPr/>
          <p:nvPr/>
        </p:nvSpPr>
        <p:spPr>
          <a:xfrm>
            <a:off x="4626864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23" name="Badge 7"/>
          <p:cNvSpPr txBox="1"/>
          <p:nvPr/>
        </p:nvSpPr>
        <p:spPr>
          <a:xfrm>
            <a:off x="4736592" y="303580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Objective text"/>
          <p:cNvSpPr txBox="1"/>
          <p:nvPr/>
        </p:nvSpPr>
        <p:spPr>
          <a:xfrm>
            <a:off x="4718304" y="3401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Data integrity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Normalisation, constraints, indexes and transactions.</a:t>
            </a:r>
            <a:endParaRPr lang="en-US" sz="1300" dirty="0"/>
          </a:p>
        </p:txBody>
      </p:sp>
      <p:sp>
        <p:nvSpPr>
          <p:cNvPr id="25" name="Objective card"/>
          <p:cNvSpPr/>
          <p:nvPr/>
        </p:nvSpPr>
        <p:spPr>
          <a:xfrm>
            <a:off x="6711696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26" name="Badge 8"/>
          <p:cNvSpPr txBox="1"/>
          <p:nvPr/>
        </p:nvSpPr>
        <p:spPr>
          <a:xfrm>
            <a:off x="6821424" y="3035808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7" name="Objective text"/>
          <p:cNvSpPr txBox="1"/>
          <p:nvPr/>
        </p:nvSpPr>
        <p:spPr>
          <a:xfrm>
            <a:off x="6803136" y="3401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Academic goal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Show ER modelling, SQL, views and triggers in a real app.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Proposed System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platform for two roles, one central database</a:t>
            </a:r>
            <a:endParaRPr lang="en-US" sz="1300" dirty="0"/>
          </a:p>
        </p:txBody>
      </p:sp>
      <p:sp>
        <p:nvSpPr>
          <p:cNvPr id="4" name="Customer panel"/>
          <p:cNvSpPr/>
          <p:nvPr/>
        </p:nvSpPr>
        <p:spPr>
          <a:xfrm>
            <a:off x="457200" y="1280160"/>
            <a:ext cx="3931920" cy="2423160"/>
          </a:xfrm>
          <a:prstGeom prst="roundRect">
            <a:avLst>
              <a:gd name="adj" fmla="val 3774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CUSTOMER</a:t>
            </a:r>
            <a:endParaRPr lang="en-US" sz="1300" dirty="0"/>
          </a:p>
        </p:txBody>
      </p:sp>
      <p:sp>
        <p:nvSpPr>
          <p:cNvPr id="6" name="Customer features"/>
          <p:cNvSpPr txBox="1"/>
          <p:nvPr/>
        </p:nvSpPr>
        <p:spPr>
          <a:xfrm>
            <a:off x="640080" y="169164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 and filter by location, period, type, fuel and price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vehicles and view live availability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 with automatic price and online payment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Self-service pickup, return and trip history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Rate and review completed trips</a:t>
            </a:r>
            <a:endParaRPr lang="en-US" sz="1400" dirty="0"/>
          </a:p>
        </p:txBody>
      </p:sp>
      <p:sp>
        <p:nvSpPr>
          <p:cNvPr id="7" name="Admin panel"/>
          <p:cNvSpPr/>
          <p:nvPr/>
        </p:nvSpPr>
        <p:spPr>
          <a:xfrm>
            <a:off x="4754880" y="1280160"/>
            <a:ext cx="3931920" cy="2423160"/>
          </a:xfrm>
          <a:prstGeom prst="roundRect">
            <a:avLst>
              <a:gd name="adj" fmla="val 3774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ADMINISTRATOR</a:t>
            </a:r>
            <a:endParaRPr lang="en-US" sz="1300" dirty="0"/>
          </a:p>
        </p:txBody>
      </p:sp>
      <p:sp>
        <p:nvSpPr>
          <p:cNvPr id="9" name="Admin features"/>
          <p:cNvSpPr txBox="1"/>
          <p:nvPr/>
        </p:nvSpPr>
        <p:spPr>
          <a:xfrm>
            <a:off x="4937760" y="169164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Add, update and deactivate vehicles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 all bookings and their status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 customers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Record returns, late fees and damage charges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revenue with SQL reports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2423160" y="3721608"/>
            <a:ext cx="0" cy="25603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Arrow"/>
          <p:cNvSpPr/>
          <p:nvPr/>
        </p:nvSpPr>
        <p:spPr>
          <a:xfrm>
            <a:off x="6720840" y="3721608"/>
            <a:ext cx="0" cy="25603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Database bar"/>
          <p:cNvSpPr txBox="1"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CENTRALISED MYSQL 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Users • Vehicles • Locations • Bookings • Payments • Returns • Reviews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End-to-End Workflow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From search to return, with a clear booking life cycle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RENTAL JOURNEY</a:t>
            </a:r>
            <a:endParaRPr lang="en-US" sz="1100" dirty="0"/>
          </a:p>
        </p:txBody>
      </p:sp>
      <p:sp>
        <p:nvSpPr>
          <p:cNvPr id="5" name="Step Search"/>
          <p:cNvSpPr txBox="1"/>
          <p:nvPr/>
        </p:nvSpPr>
        <p:spPr>
          <a:xfrm>
            <a:off x="457200" y="1508760"/>
            <a:ext cx="100584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14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Search</a:t>
            </a:r>
            <a:endParaRPr lang="en-US" sz="1100" dirty="0"/>
          </a:p>
        </p:txBody>
      </p:sp>
      <p:sp>
        <p:nvSpPr>
          <p:cNvPr id="6" name="Step note"/>
          <p:cNvSpPr txBox="1"/>
          <p:nvPr/>
        </p:nvSpPr>
        <p:spPr>
          <a:xfrm>
            <a:off x="429768" y="2331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Location and dates</a:t>
            </a:r>
            <a:endParaRPr lang="en-US" sz="1050" dirty="0"/>
          </a:p>
        </p:txBody>
      </p:sp>
      <p:sp>
        <p:nvSpPr>
          <p:cNvPr id="7" name="Chevron"/>
          <p:cNvSpPr txBox="1"/>
          <p:nvPr/>
        </p:nvSpPr>
        <p:spPr>
          <a:xfrm>
            <a:off x="1463040" y="16916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8" name="Step Select"/>
          <p:cNvSpPr txBox="1"/>
          <p:nvPr/>
        </p:nvSpPr>
        <p:spPr>
          <a:xfrm>
            <a:off x="1645920" y="1508760"/>
            <a:ext cx="1005840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4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02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Select</a:t>
            </a:r>
            <a:endParaRPr lang="en-US" sz="1100" dirty="0"/>
          </a:p>
        </p:txBody>
      </p:sp>
      <p:sp>
        <p:nvSpPr>
          <p:cNvPr id="9" name="Step note"/>
          <p:cNvSpPr txBox="1"/>
          <p:nvPr/>
        </p:nvSpPr>
        <p:spPr>
          <a:xfrm>
            <a:off x="1618488" y="2331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Compare and pick</a:t>
            </a:r>
            <a:endParaRPr lang="en-US" sz="1050" dirty="0"/>
          </a:p>
        </p:txBody>
      </p:sp>
      <p:sp>
        <p:nvSpPr>
          <p:cNvPr id="10" name="Chevron"/>
          <p:cNvSpPr txBox="1"/>
          <p:nvPr/>
        </p:nvSpPr>
        <p:spPr>
          <a:xfrm>
            <a:off x="2651760" y="16916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1" name="Step Book"/>
          <p:cNvSpPr txBox="1"/>
          <p:nvPr/>
        </p:nvSpPr>
        <p:spPr>
          <a:xfrm>
            <a:off x="2834640" y="1508760"/>
            <a:ext cx="1005840" cy="777240"/>
          </a:xfrm>
          <a:prstGeom prst="roundRect">
            <a:avLst>
              <a:gd name="adj" fmla="val 11765"/>
            </a:avLst>
          </a:prstGeom>
          <a:solidFill>
            <a:schemeClr val="accent3">
              <a:alpha val="14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03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Book</a:t>
            </a:r>
            <a:endParaRPr lang="en-US" sz="1100" dirty="0"/>
          </a:p>
        </p:txBody>
      </p:sp>
      <p:sp>
        <p:nvSpPr>
          <p:cNvPr id="12" name="Step note"/>
          <p:cNvSpPr txBox="1"/>
          <p:nvPr/>
        </p:nvSpPr>
        <p:spPr>
          <a:xfrm>
            <a:off x="2807208" y="2331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Price auto-calculated</a:t>
            </a:r>
            <a:endParaRPr lang="en-US" sz="1050" dirty="0"/>
          </a:p>
        </p:txBody>
      </p:sp>
      <p:sp>
        <p:nvSpPr>
          <p:cNvPr id="13" name="Chevron"/>
          <p:cNvSpPr txBox="1"/>
          <p:nvPr/>
        </p:nvSpPr>
        <p:spPr>
          <a:xfrm>
            <a:off x="3840480" y="16916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tep Pay"/>
          <p:cNvSpPr txBox="1"/>
          <p:nvPr/>
        </p:nvSpPr>
        <p:spPr>
          <a:xfrm>
            <a:off x="4023360" y="1508760"/>
            <a:ext cx="1005840" cy="777240"/>
          </a:xfrm>
          <a:prstGeom prst="roundRect">
            <a:avLst>
              <a:gd name="adj" fmla="val 11765"/>
            </a:avLst>
          </a:prstGeom>
          <a:solidFill>
            <a:schemeClr val="accent4">
              <a:alpha val="14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04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</a:t>
            </a:r>
            <a:endParaRPr lang="en-US" sz="1100" dirty="0"/>
          </a:p>
        </p:txBody>
      </p:sp>
      <p:sp>
        <p:nvSpPr>
          <p:cNvPr id="15" name="Step note"/>
          <p:cNvSpPr txBox="1"/>
          <p:nvPr/>
        </p:nvSpPr>
        <p:spPr>
          <a:xfrm>
            <a:off x="3995928" y="2331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Online payment</a:t>
            </a:r>
            <a:endParaRPr lang="en-US" sz="1050" dirty="0"/>
          </a:p>
        </p:txBody>
      </p:sp>
      <p:sp>
        <p:nvSpPr>
          <p:cNvPr id="16" name="Chevron"/>
          <p:cNvSpPr txBox="1"/>
          <p:nvPr/>
        </p:nvSpPr>
        <p:spPr>
          <a:xfrm>
            <a:off x="5029200" y="16916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7" name="Step Pick Up"/>
          <p:cNvSpPr txBox="1"/>
          <p:nvPr/>
        </p:nvSpPr>
        <p:spPr>
          <a:xfrm>
            <a:off x="5212080" y="1508760"/>
            <a:ext cx="1005840" cy="777240"/>
          </a:xfrm>
          <a:prstGeom prst="roundRect">
            <a:avLst>
              <a:gd name="adj" fmla="val 11765"/>
            </a:avLst>
          </a:prstGeom>
          <a:solidFill>
            <a:schemeClr val="accent5">
              <a:alpha val="14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05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Pick Up</a:t>
            </a:r>
            <a:endParaRPr lang="en-US" sz="1100" dirty="0"/>
          </a:p>
        </p:txBody>
      </p:sp>
      <p:sp>
        <p:nvSpPr>
          <p:cNvPr id="18" name="Step note"/>
          <p:cNvSpPr txBox="1"/>
          <p:nvPr/>
        </p:nvSpPr>
        <p:spPr>
          <a:xfrm>
            <a:off x="5184648" y="2331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Digital pass</a:t>
            </a:r>
            <a:endParaRPr lang="en-US" sz="1050" dirty="0"/>
          </a:p>
        </p:txBody>
      </p:sp>
      <p:sp>
        <p:nvSpPr>
          <p:cNvPr id="19" name="Chevron"/>
          <p:cNvSpPr txBox="1"/>
          <p:nvPr/>
        </p:nvSpPr>
        <p:spPr>
          <a:xfrm>
            <a:off x="6217920" y="16916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Step Ride"/>
          <p:cNvSpPr txBox="1"/>
          <p:nvPr/>
        </p:nvSpPr>
        <p:spPr>
          <a:xfrm>
            <a:off x="6400800" y="1508760"/>
            <a:ext cx="1005840" cy="777240"/>
          </a:xfrm>
          <a:prstGeom prst="roundRect">
            <a:avLst>
              <a:gd name="adj" fmla="val 11765"/>
            </a:avLst>
          </a:prstGeom>
          <a:solidFill>
            <a:schemeClr val="accent6">
              <a:alpha val="14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06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Ride</a:t>
            </a:r>
            <a:endParaRPr lang="en-US" sz="1100" dirty="0"/>
          </a:p>
        </p:txBody>
      </p:sp>
      <p:sp>
        <p:nvSpPr>
          <p:cNvPr id="21" name="Step note"/>
          <p:cNvSpPr txBox="1"/>
          <p:nvPr/>
        </p:nvSpPr>
        <p:spPr>
          <a:xfrm>
            <a:off x="6373368" y="2331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Use the vehicle</a:t>
            </a:r>
            <a:endParaRPr lang="en-US" sz="1050" dirty="0"/>
          </a:p>
        </p:txBody>
      </p:sp>
      <p:sp>
        <p:nvSpPr>
          <p:cNvPr id="22" name="Chevron"/>
          <p:cNvSpPr txBox="1"/>
          <p:nvPr/>
        </p:nvSpPr>
        <p:spPr>
          <a:xfrm>
            <a:off x="7406640" y="16916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3" name="Step Return"/>
          <p:cNvSpPr txBox="1"/>
          <p:nvPr/>
        </p:nvSpPr>
        <p:spPr>
          <a:xfrm>
            <a:off x="7589520" y="1508760"/>
            <a:ext cx="100584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14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07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Return</a:t>
            </a:r>
            <a:endParaRPr lang="en-US" sz="1100" dirty="0"/>
          </a:p>
        </p:txBody>
      </p:sp>
      <p:sp>
        <p:nvSpPr>
          <p:cNvPr id="24" name="Step note"/>
          <p:cNvSpPr txBox="1"/>
          <p:nvPr/>
        </p:nvSpPr>
        <p:spPr>
          <a:xfrm>
            <a:off x="7562088" y="2331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Charges settled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BOOKING STATUS LIFE CYCLE</a:t>
            </a:r>
            <a:endParaRPr lang="en-US" sz="1100" dirty="0"/>
          </a:p>
        </p:txBody>
      </p:sp>
      <p:sp>
        <p:nvSpPr>
          <p:cNvPr id="26" name="Status pending"/>
          <p:cNvSpPr txBox="1"/>
          <p:nvPr/>
        </p:nvSpPr>
        <p:spPr>
          <a:xfrm>
            <a:off x="457200" y="3337560"/>
            <a:ext cx="1417320" cy="502920"/>
          </a:xfrm>
          <a:prstGeom prst="roundRect">
            <a:avLst>
              <a:gd name="adj" fmla="val 18182"/>
            </a:avLst>
          </a:prstGeom>
          <a:solidFill>
            <a:schemeClr val="accent4">
              <a:alpha val="20000"/>
            </a:schemeClr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pending</a:t>
            </a:r>
            <a:endParaRPr lang="en-US" sz="1300" dirty="0"/>
          </a:p>
        </p:txBody>
      </p:sp>
      <p:sp>
        <p:nvSpPr>
          <p:cNvPr id="27" name="Status trigger"/>
          <p:cNvSpPr txBox="1"/>
          <p:nvPr/>
        </p:nvSpPr>
        <p:spPr>
          <a:xfrm>
            <a:off x="411480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POST /api/bookings</a:t>
            </a:r>
            <a:endParaRPr lang="en-US" sz="1000" dirty="0"/>
          </a:p>
        </p:txBody>
      </p:sp>
      <p:sp>
        <p:nvSpPr>
          <p:cNvPr id="28" name="Chevron"/>
          <p:cNvSpPr txBox="1"/>
          <p:nvPr/>
        </p:nvSpPr>
        <p:spPr>
          <a:xfrm>
            <a:off x="1874520" y="3383280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9" name="Status confirmed"/>
          <p:cNvSpPr txBox="1"/>
          <p:nvPr/>
        </p:nvSpPr>
        <p:spPr>
          <a:xfrm>
            <a:off x="2121408" y="3337560"/>
            <a:ext cx="1417320" cy="502920"/>
          </a:xfrm>
          <a:prstGeom prst="roundRect">
            <a:avLst>
              <a:gd name="adj" fmla="val 18182"/>
            </a:avLst>
          </a:prstGeom>
          <a:solidFill>
            <a:schemeClr val="accent1">
              <a:alpha val="20000"/>
            </a:schemeClr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confirmed</a:t>
            </a:r>
            <a:endParaRPr lang="en-US" sz="1300" dirty="0"/>
          </a:p>
        </p:txBody>
      </p:sp>
      <p:sp>
        <p:nvSpPr>
          <p:cNvPr id="30" name="Status trigger"/>
          <p:cNvSpPr txBox="1"/>
          <p:nvPr/>
        </p:nvSpPr>
        <p:spPr>
          <a:xfrm>
            <a:off x="2075688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POST /api/payments</a:t>
            </a:r>
            <a:endParaRPr lang="en-US" sz="1000" dirty="0"/>
          </a:p>
        </p:txBody>
      </p:sp>
      <p:sp>
        <p:nvSpPr>
          <p:cNvPr id="31" name="Chevron"/>
          <p:cNvSpPr txBox="1"/>
          <p:nvPr/>
        </p:nvSpPr>
        <p:spPr>
          <a:xfrm>
            <a:off x="3538728" y="3383280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32" name="Status active"/>
          <p:cNvSpPr txBox="1"/>
          <p:nvPr/>
        </p:nvSpPr>
        <p:spPr>
          <a:xfrm>
            <a:off x="3785616" y="3337560"/>
            <a:ext cx="1417320" cy="502920"/>
          </a:xfrm>
          <a:prstGeom prst="roundRect">
            <a:avLst>
              <a:gd name="adj" fmla="val 18182"/>
            </a:avLst>
          </a:prstGeom>
          <a:solidFill>
            <a:schemeClr val="accent5">
              <a:alpha val="20000"/>
            </a:schemeClr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active</a:t>
            </a:r>
            <a:endParaRPr lang="en-US" sz="1300" dirty="0"/>
          </a:p>
        </p:txBody>
      </p:sp>
      <p:sp>
        <p:nvSpPr>
          <p:cNvPr id="33" name="Status trigger"/>
          <p:cNvSpPr txBox="1"/>
          <p:nvPr/>
        </p:nvSpPr>
        <p:spPr>
          <a:xfrm>
            <a:off x="3739896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Pickup confirmation</a:t>
            </a:r>
            <a:endParaRPr lang="en-US" sz="1000" dirty="0"/>
          </a:p>
        </p:txBody>
      </p:sp>
      <p:sp>
        <p:nvSpPr>
          <p:cNvPr id="34" name="Chevron"/>
          <p:cNvSpPr txBox="1"/>
          <p:nvPr/>
        </p:nvSpPr>
        <p:spPr>
          <a:xfrm>
            <a:off x="5202936" y="3383280"/>
            <a:ext cx="246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35" name="Status completed"/>
          <p:cNvSpPr txBox="1"/>
          <p:nvPr/>
        </p:nvSpPr>
        <p:spPr>
          <a:xfrm>
            <a:off x="5449824" y="3337560"/>
            <a:ext cx="1417320" cy="502920"/>
          </a:xfrm>
          <a:prstGeom prst="roundRect">
            <a:avLst>
              <a:gd name="adj" fmla="val 18182"/>
            </a:avLst>
          </a:prstGeom>
          <a:solidFill>
            <a:schemeClr val="accent2">
              <a:alpha val="20000"/>
            </a:schemeClr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completed</a:t>
            </a:r>
            <a:endParaRPr lang="en-US" sz="1300" dirty="0"/>
          </a:p>
        </p:txBody>
      </p:sp>
      <p:sp>
        <p:nvSpPr>
          <p:cNvPr id="36" name="Status trigger"/>
          <p:cNvSpPr txBox="1"/>
          <p:nvPr/>
        </p:nvSpPr>
        <p:spPr>
          <a:xfrm>
            <a:off x="5404104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POST /api/returns</a:t>
            </a:r>
            <a:endParaRPr lang="en-US" sz="1000" dirty="0"/>
          </a:p>
        </p:txBody>
      </p:sp>
      <p:sp>
        <p:nvSpPr>
          <p:cNvPr id="37" name="Status cancelled"/>
          <p:cNvSpPr txBox="1"/>
          <p:nvPr/>
        </p:nvSpPr>
        <p:spPr>
          <a:xfrm>
            <a:off x="7114032" y="3337560"/>
            <a:ext cx="1417320" cy="502920"/>
          </a:xfrm>
          <a:prstGeom prst="roundRect">
            <a:avLst>
              <a:gd name="adj" fmla="val 18182"/>
            </a:avLst>
          </a:prstGeom>
          <a:solidFill>
            <a:schemeClr val="accent6">
              <a:alpha val="20000"/>
            </a:schemeClr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cancelled</a:t>
            </a:r>
            <a:endParaRPr lang="en-US" sz="1300" dirty="0"/>
          </a:p>
        </p:txBody>
      </p:sp>
      <p:sp>
        <p:nvSpPr>
          <p:cNvPr id="38" name="Status trigger"/>
          <p:cNvSpPr txBox="1"/>
          <p:nvPr/>
        </p:nvSpPr>
        <p:spPr>
          <a:xfrm>
            <a:off x="7068312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User, admin or timeout</a:t>
            </a:r>
            <a:endParaRPr lang="en-US" sz="1000" dirty="0"/>
          </a:p>
        </p:txBody>
      </p:sp>
      <p:sp>
        <p:nvSpPr>
          <p:cNvPr id="39" name="Footnote"/>
          <p:cNvSpPr txBox="1"/>
          <p:nvPr/>
        </p:nvSpPr>
        <p:spPr>
          <a:xfrm>
            <a:off x="45720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 vehicle is held while a booking is pending, confirmed or active, so no other customer can take it for the same period.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Three-tier design: presentation, application and data layers</a:t>
            </a:r>
            <a:endParaRPr lang="en-US" sz="1300" dirty="0"/>
          </a:p>
        </p:txBody>
      </p:sp>
      <p:sp>
        <p:nvSpPr>
          <p:cNvPr id="4" name="Layer PRESENTATION LAYER"/>
          <p:cNvSpPr txBox="1"/>
          <p:nvPr/>
        </p:nvSpPr>
        <p:spPr>
          <a:xfrm>
            <a:off x="457200" y="128016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PRESENTATION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Browser front end</a:t>
            </a:r>
            <a:endParaRPr lang="en-US" sz="1200" dirty="0"/>
          </a:p>
        </p:txBody>
      </p:sp>
      <p:sp>
        <p:nvSpPr>
          <p:cNvPr id="5" name="Layer detail"/>
          <p:cNvSpPr txBox="1"/>
          <p:nvPr/>
        </p:nvSpPr>
        <p:spPr>
          <a:xfrm>
            <a:off x="2286000" y="1280160"/>
            <a:ext cx="411480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14000"/>
            </a:schemeClr>
          </a:solidFill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HTML5 • CSS3 • JavaScript (ES6+)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Vehicle cards, search and filters, booking, payment and admin screens; responsive on phone and desktop.</a:t>
            </a:r>
            <a:endParaRPr lang="en-US" sz="1100" dirty="0"/>
          </a:p>
        </p:txBody>
      </p:sp>
      <p:sp>
        <p:nvSpPr>
          <p:cNvPr id="6" name="Layer APPLICATION LAYER"/>
          <p:cNvSpPr txBox="1"/>
          <p:nvPr/>
        </p:nvSpPr>
        <p:spPr>
          <a:xfrm>
            <a:off x="457200" y="251460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APPLICATION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Node.js + Express</a:t>
            </a:r>
            <a:endParaRPr lang="en-US" sz="1200" dirty="0"/>
          </a:p>
        </p:txBody>
      </p:sp>
      <p:sp>
        <p:nvSpPr>
          <p:cNvPr id="7" name="Layer detail"/>
          <p:cNvSpPr txBox="1"/>
          <p:nvPr/>
        </p:nvSpPr>
        <p:spPr>
          <a:xfrm>
            <a:off x="2286000" y="2514600"/>
            <a:ext cx="4114800" cy="914400"/>
          </a:xfrm>
          <a:prstGeom prst="roundRect">
            <a:avLst>
              <a:gd name="adj" fmla="val 10000"/>
            </a:avLst>
          </a:prstGeom>
          <a:solidFill>
            <a:schemeClr val="accent3">
              <a:alpha val="14000"/>
            </a:schemeClr>
          </a:solidFill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Routes: auth, vehicles, bookings, payments, returns, 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Middleware: JWT verification, role check, input validation, CORS.</a:t>
            </a:r>
            <a:endParaRPr lang="en-US" sz="1100" dirty="0"/>
          </a:p>
        </p:txBody>
      </p:sp>
      <p:sp>
        <p:nvSpPr>
          <p:cNvPr id="8" name="Layer DATA LAYER"/>
          <p:cNvSpPr txBox="1"/>
          <p:nvPr/>
        </p:nvSpPr>
        <p:spPr>
          <a:xfrm>
            <a:off x="457200" y="374904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MySQL (InnoDB)</a:t>
            </a:r>
            <a:endParaRPr lang="en-US" sz="1200" dirty="0"/>
          </a:p>
        </p:txBody>
      </p:sp>
      <p:sp>
        <p:nvSpPr>
          <p:cNvPr id="9" name="Layer detail"/>
          <p:cNvSpPr txBox="1"/>
          <p:nvPr/>
        </p:nvSpPr>
        <p:spPr>
          <a:xfrm>
            <a:off x="2286000" y="3749040"/>
            <a:ext cx="411480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Tables with foreign keys and CHECK constraints, composite indexes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Views, triggers (audit trail), stored procedures and ACID transactions.</a:t>
            </a:r>
            <a:endParaRPr lang="en-US" sz="1100" dirty="0"/>
          </a:p>
        </p:txBody>
      </p:sp>
      <p:sp>
        <p:nvSpPr>
          <p:cNvPr id="10" name="Arrow"/>
          <p:cNvSpPr/>
          <p:nvPr/>
        </p:nvSpPr>
        <p:spPr>
          <a:xfrm>
            <a:off x="3154680" y="2212848"/>
            <a:ext cx="0" cy="28346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Label"/>
          <p:cNvSpPr txBox="1"/>
          <p:nvPr/>
        </p:nvSpPr>
        <p:spPr>
          <a:xfrm>
            <a:off x="3291840" y="2212848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REST / JSON + JWT</a:t>
            </a:r>
            <a:endParaRPr lang="en-US" sz="1000" dirty="0"/>
          </a:p>
        </p:txBody>
      </p:sp>
      <p:sp>
        <p:nvSpPr>
          <p:cNvPr id="12" name="Arrow"/>
          <p:cNvSpPr/>
          <p:nvPr/>
        </p:nvSpPr>
        <p:spPr>
          <a:xfrm>
            <a:off x="3154680" y="3447288"/>
            <a:ext cx="0" cy="28346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Label"/>
          <p:cNvSpPr txBox="1"/>
          <p:nvPr/>
        </p:nvSpPr>
        <p:spPr>
          <a:xfrm>
            <a:off x="3291840" y="3447288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SQL via mysql2 pool</a:t>
            </a:r>
            <a:endParaRPr lang="en-US" sz="1000" dirty="0"/>
          </a:p>
        </p:txBody>
      </p:sp>
      <p:sp>
        <p:nvSpPr>
          <p:cNvPr id="14" name="Card: Users"/>
          <p:cNvSpPr txBox="1"/>
          <p:nvPr/>
        </p:nvSpPr>
        <p:spPr>
          <a:xfrm>
            <a:off x="6629400" y="1280160"/>
            <a:ext cx="2057400" cy="914400"/>
          </a:xfrm>
          <a:prstGeom prst="roundRect">
            <a:avLst>
              <a:gd name="adj" fmla="val 10000"/>
            </a:avLst>
          </a:prstGeom>
          <a:solidFill>
            <a:schemeClr val="accent4">
              <a:alpha val="14000"/>
            </a:schemeClr>
          </a:solidFill>
          <a:ln/>
        </p:spPr>
        <p:txBody>
          <a:bodyPr wrap="square" lIns="101600" tIns="1270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Users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Customers and administrators with role-based access.</a:t>
            </a:r>
            <a:endParaRPr lang="en-US" sz="1300" dirty="0"/>
          </a:p>
        </p:txBody>
      </p:sp>
      <p:sp>
        <p:nvSpPr>
          <p:cNvPr id="15" name="Card: Payment gateway"/>
          <p:cNvSpPr txBox="1"/>
          <p:nvPr/>
        </p:nvSpPr>
        <p:spPr>
          <a:xfrm>
            <a:off x="6629400" y="2514600"/>
            <a:ext cx="2057400" cy="914400"/>
          </a:xfrm>
          <a:prstGeom prst="roundRect">
            <a:avLst>
              <a:gd name="adj" fmla="val 10000"/>
            </a:avLst>
          </a:prstGeom>
          <a:solidFill>
            <a:schemeClr val="accent6">
              <a:alpha val="14000"/>
            </a:schemeClr>
          </a:solidFill>
          <a:ln/>
        </p:spPr>
        <p:txBody>
          <a:bodyPr wrap="square" lIns="101600" tIns="1270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Payment gateway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Sandbox / simulated; Razorpay or Stripe can plug in.</a:t>
            </a:r>
            <a:endParaRPr lang="en-US" sz="1300" dirty="0"/>
          </a:p>
        </p:txBody>
      </p:sp>
      <p:sp>
        <p:nvSpPr>
          <p:cNvPr id="16" name="Card: Security"/>
          <p:cNvSpPr txBox="1"/>
          <p:nvPr/>
        </p:nvSpPr>
        <p:spPr>
          <a:xfrm>
            <a:off x="6629400" y="3749040"/>
            <a:ext cx="2057400" cy="914400"/>
          </a:xfrm>
          <a:prstGeom prst="roundRect">
            <a:avLst>
              <a:gd name="adj" fmla="val 10000"/>
            </a:avLst>
          </a:prstGeom>
          <a:solidFill>
            <a:schemeClr val="accent5">
              <a:alpha val="14000"/>
            </a:schemeClr>
          </a:solidFill>
          <a:ln/>
        </p:spPr>
        <p:txBody>
          <a:bodyPr wrap="square" lIns="101600" tIns="1270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Security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bcrypt-hashed passwords; parameterised queries.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Core Modules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Eight functional building blocks sharing one database</a:t>
            </a:r>
            <a:endParaRPr lang="en-US" sz="1300" dirty="0"/>
          </a:p>
        </p:txBody>
      </p:sp>
      <p:sp>
        <p:nvSpPr>
          <p:cNvPr id="4" name="Module card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566928" y="138988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Module text"/>
          <p:cNvSpPr txBox="1"/>
          <p:nvPr/>
        </p:nvSpPr>
        <p:spPr>
          <a:xfrm>
            <a:off x="548640" y="17556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User Management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Register, log in, profile and roles.</a:t>
            </a:r>
            <a:endParaRPr lang="en-US" sz="1300" dirty="0"/>
          </a:p>
        </p:txBody>
      </p:sp>
      <p:sp>
        <p:nvSpPr>
          <p:cNvPr id="7" name="Module card"/>
          <p:cNvSpPr/>
          <p:nvPr/>
        </p:nvSpPr>
        <p:spPr>
          <a:xfrm>
            <a:off x="2542032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2651760" y="1389888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Module text"/>
          <p:cNvSpPr txBox="1"/>
          <p:nvPr/>
        </p:nvSpPr>
        <p:spPr>
          <a:xfrm>
            <a:off x="2633472" y="17556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Vehicle Management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Add vehicles, set rates and status, move locations.</a:t>
            </a:r>
            <a:endParaRPr lang="en-US" sz="1300" dirty="0"/>
          </a:p>
        </p:txBody>
      </p:sp>
      <p:sp>
        <p:nvSpPr>
          <p:cNvPr id="10" name="Module card"/>
          <p:cNvSpPr/>
          <p:nvPr/>
        </p:nvSpPr>
        <p:spPr>
          <a:xfrm>
            <a:off x="4626864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11" name="Badge 3"/>
          <p:cNvSpPr txBox="1"/>
          <p:nvPr/>
        </p:nvSpPr>
        <p:spPr>
          <a:xfrm>
            <a:off x="4736592" y="13898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Module text"/>
          <p:cNvSpPr txBox="1"/>
          <p:nvPr/>
        </p:nvSpPr>
        <p:spPr>
          <a:xfrm>
            <a:off x="4718304" y="17556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 &amp; Availability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Free cars by location, period and filters.</a:t>
            </a:r>
            <a:endParaRPr lang="en-US" sz="1300" dirty="0"/>
          </a:p>
        </p:txBody>
      </p:sp>
      <p:sp>
        <p:nvSpPr>
          <p:cNvPr id="13" name="Module card"/>
          <p:cNvSpPr/>
          <p:nvPr/>
        </p:nvSpPr>
        <p:spPr>
          <a:xfrm>
            <a:off x="6711696" y="128016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14" name="Badge 4"/>
          <p:cNvSpPr txBox="1"/>
          <p:nvPr/>
        </p:nvSpPr>
        <p:spPr>
          <a:xfrm>
            <a:off x="6821424" y="1389888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Module text"/>
          <p:cNvSpPr txBox="1"/>
          <p:nvPr/>
        </p:nvSpPr>
        <p:spPr>
          <a:xfrm>
            <a:off x="6803136" y="17556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Booking Management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Availability re-check, price and booking in a transaction.</a:t>
            </a:r>
            <a:endParaRPr lang="en-US" sz="1300" dirty="0"/>
          </a:p>
        </p:txBody>
      </p:sp>
      <p:sp>
        <p:nvSpPr>
          <p:cNvPr id="16" name="Module card"/>
          <p:cNvSpPr/>
          <p:nvPr/>
        </p:nvSpPr>
        <p:spPr>
          <a:xfrm>
            <a:off x="457200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5">
              <a:alpha val="14000"/>
            </a:schemeClr>
          </a:solidFill>
          <a:ln/>
        </p:spPr>
      </p:sp>
      <p:sp>
        <p:nvSpPr>
          <p:cNvPr id="17" name="Badge 5"/>
          <p:cNvSpPr txBox="1"/>
          <p:nvPr/>
        </p:nvSpPr>
        <p:spPr>
          <a:xfrm>
            <a:off x="566928" y="3035808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Module text"/>
          <p:cNvSpPr txBox="1"/>
          <p:nvPr/>
        </p:nvSpPr>
        <p:spPr>
          <a:xfrm>
            <a:off x="548640" y="3401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Payment &amp; Billing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Record each attempt; confirm the booking on success.</a:t>
            </a:r>
            <a:endParaRPr lang="en-US" sz="1300" dirty="0"/>
          </a:p>
        </p:txBody>
      </p:sp>
      <p:sp>
        <p:nvSpPr>
          <p:cNvPr id="19" name="Module card"/>
          <p:cNvSpPr/>
          <p:nvPr/>
        </p:nvSpPr>
        <p:spPr>
          <a:xfrm>
            <a:off x="2542032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20" name="Badge 6"/>
          <p:cNvSpPr txBox="1"/>
          <p:nvPr/>
        </p:nvSpPr>
        <p:spPr>
          <a:xfrm>
            <a:off x="2651760" y="3035808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Module text"/>
          <p:cNvSpPr txBox="1"/>
          <p:nvPr/>
        </p:nvSpPr>
        <p:spPr>
          <a:xfrm>
            <a:off x="2633472" y="3401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Pick-up &amp; Return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Odometer, late fee, damage charge, vehicle freed.</a:t>
            </a:r>
            <a:endParaRPr lang="en-US" sz="1300" dirty="0"/>
          </a:p>
        </p:txBody>
      </p:sp>
      <p:sp>
        <p:nvSpPr>
          <p:cNvPr id="22" name="Module card"/>
          <p:cNvSpPr/>
          <p:nvPr/>
        </p:nvSpPr>
        <p:spPr>
          <a:xfrm>
            <a:off x="4626864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23" name="Badge 7"/>
          <p:cNvSpPr txBox="1"/>
          <p:nvPr/>
        </p:nvSpPr>
        <p:spPr>
          <a:xfrm>
            <a:off x="4736592" y="303580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Module text"/>
          <p:cNvSpPr txBox="1"/>
          <p:nvPr/>
        </p:nvSpPr>
        <p:spPr>
          <a:xfrm>
            <a:off x="4718304" y="3401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History &amp; Reviews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Past trips with payments, and 1–5 ratings.</a:t>
            </a:r>
            <a:endParaRPr lang="en-US" sz="1300" dirty="0"/>
          </a:p>
        </p:txBody>
      </p:sp>
      <p:sp>
        <p:nvSpPr>
          <p:cNvPr id="25" name="Module card"/>
          <p:cNvSpPr/>
          <p:nvPr/>
        </p:nvSpPr>
        <p:spPr>
          <a:xfrm>
            <a:off x="6711696" y="2926080"/>
            <a:ext cx="192024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26" name="Badge 8"/>
          <p:cNvSpPr txBox="1"/>
          <p:nvPr/>
        </p:nvSpPr>
        <p:spPr>
          <a:xfrm>
            <a:off x="6821424" y="3035808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7" name="Module text"/>
          <p:cNvSpPr txBox="1"/>
          <p:nvPr/>
        </p:nvSpPr>
        <p:spPr>
          <a:xfrm>
            <a:off x="6803136" y="3401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Admin Dashboard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Counts, recent bookings and revenue reports.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Database Design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ER model converted to a relational schema, normalised to 3NF</a:t>
            </a:r>
            <a:endParaRPr lang="en-US" sz="1300" dirty="0"/>
          </a:p>
        </p:txBody>
      </p:sp>
      <p:sp>
        <p:nvSpPr>
          <p:cNvPr id="4" name="Entity LOCATIONS"/>
          <p:cNvSpPr txBox="1"/>
          <p:nvPr/>
        </p:nvSpPr>
        <p:spPr>
          <a:xfrm>
            <a:off x="457200" y="1280160"/>
            <a:ext cx="1691640" cy="658368"/>
          </a:xfrm>
          <a:prstGeom prst="roundRect">
            <a:avLst>
              <a:gd name="adj" fmla="val 11111"/>
            </a:avLst>
          </a:prstGeom>
          <a:solidFill>
            <a:schemeClr val="accent4">
              <a:alpha val="22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LOCATIONS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location_id, city, address</a:t>
            </a:r>
            <a:endParaRPr lang="en-US" sz="1200" dirty="0"/>
          </a:p>
        </p:txBody>
      </p:sp>
      <p:sp>
        <p:nvSpPr>
          <p:cNvPr id="5" name="Entity VEHICLES"/>
          <p:cNvSpPr txBox="1"/>
          <p:nvPr/>
        </p:nvSpPr>
        <p:spPr>
          <a:xfrm>
            <a:off x="2606040" y="1280160"/>
            <a:ext cx="1691640" cy="658368"/>
          </a:xfrm>
          <a:prstGeom prst="roundRect">
            <a:avLst>
              <a:gd name="adj" fmla="val 11111"/>
            </a:avLst>
          </a:prstGeom>
          <a:solidFill>
            <a:schemeClr val="accent2">
              <a:alpha val="22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VEHICLES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vehicle_id, registration_no, daily_rate, status</a:t>
            </a:r>
            <a:endParaRPr lang="en-US" sz="1200" dirty="0"/>
          </a:p>
        </p:txBody>
      </p:sp>
      <p:sp>
        <p:nvSpPr>
          <p:cNvPr id="6" name="Entity VEHICLE_CATEGORIES"/>
          <p:cNvSpPr txBox="1"/>
          <p:nvPr/>
        </p:nvSpPr>
        <p:spPr>
          <a:xfrm>
            <a:off x="4754880" y="1280160"/>
            <a:ext cx="1691640" cy="658368"/>
          </a:xfrm>
          <a:prstGeom prst="roundRect">
            <a:avLst>
              <a:gd name="adj" fmla="val 11111"/>
            </a:avLst>
          </a:prstGeom>
          <a:solidFill>
            <a:schemeClr val="accent3">
              <a:alpha val="22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VEHICLE_CATEGORIES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category_id, category_name</a:t>
            </a:r>
            <a:endParaRPr lang="en-US" sz="1200" dirty="0"/>
          </a:p>
        </p:txBody>
      </p:sp>
      <p:sp>
        <p:nvSpPr>
          <p:cNvPr id="7" name="Relation"/>
          <p:cNvSpPr/>
          <p:nvPr/>
        </p:nvSpPr>
        <p:spPr>
          <a:xfrm>
            <a:off x="2148840" y="1609344"/>
            <a:ext cx="45720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8" name="Cardinality"/>
          <p:cNvSpPr txBox="1"/>
          <p:nvPr/>
        </p:nvSpPr>
        <p:spPr>
          <a:xfrm>
            <a:off x="2103120" y="1371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1:N</a:t>
            </a:r>
            <a:endParaRPr lang="en-US" sz="950" dirty="0"/>
          </a:p>
        </p:txBody>
      </p:sp>
      <p:sp>
        <p:nvSpPr>
          <p:cNvPr id="9" name="Relation"/>
          <p:cNvSpPr/>
          <p:nvPr/>
        </p:nvSpPr>
        <p:spPr>
          <a:xfrm>
            <a:off x="4297680" y="1609344"/>
            <a:ext cx="45720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0" name="Cardinality"/>
          <p:cNvSpPr txBox="1"/>
          <p:nvPr/>
        </p:nvSpPr>
        <p:spPr>
          <a:xfrm>
            <a:off x="4251960" y="1371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1:N</a:t>
            </a:r>
            <a:endParaRPr lang="en-US" sz="950" dirty="0"/>
          </a:p>
        </p:txBody>
      </p:sp>
      <p:sp>
        <p:nvSpPr>
          <p:cNvPr id="11" name="Entity USERS"/>
          <p:cNvSpPr txBox="1"/>
          <p:nvPr/>
        </p:nvSpPr>
        <p:spPr>
          <a:xfrm>
            <a:off x="457200" y="2468880"/>
            <a:ext cx="1691640" cy="658368"/>
          </a:xfrm>
          <a:prstGeom prst="roundRect">
            <a:avLst>
              <a:gd name="adj" fmla="val 11111"/>
            </a:avLst>
          </a:prstGeom>
          <a:solidFill>
            <a:schemeClr val="accent1">
              <a:alpha val="22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USERS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user_id, email, license_no, role</a:t>
            </a:r>
            <a:endParaRPr lang="en-US" sz="1200" dirty="0"/>
          </a:p>
        </p:txBody>
      </p:sp>
      <p:sp>
        <p:nvSpPr>
          <p:cNvPr id="12" name="Entity BOOKINGS"/>
          <p:cNvSpPr txBox="1"/>
          <p:nvPr/>
        </p:nvSpPr>
        <p:spPr>
          <a:xfrm>
            <a:off x="2606040" y="2468880"/>
            <a:ext cx="169164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BOOKINGS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booking_id, start/end_datetime, total_amount, status</a:t>
            </a:r>
            <a:endParaRPr lang="en-US" sz="1200" dirty="0"/>
          </a:p>
        </p:txBody>
      </p:sp>
      <p:sp>
        <p:nvSpPr>
          <p:cNvPr id="13" name="Entity BOOKING_AUDIT"/>
          <p:cNvSpPr txBox="1"/>
          <p:nvPr/>
        </p:nvSpPr>
        <p:spPr>
          <a:xfrm>
            <a:off x="4754880" y="2468880"/>
            <a:ext cx="1691640" cy="658368"/>
          </a:xfrm>
          <a:prstGeom prst="roundRect">
            <a:avLst>
              <a:gd name="adj" fmla="val 11111"/>
            </a:avLst>
          </a:prstGeom>
          <a:solidFill>
            <a:schemeClr val="accent5">
              <a:alpha val="22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BOOKING_AUDIT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old_status, new_status (trigger)</a:t>
            </a:r>
            <a:endParaRPr lang="en-US" sz="1200" dirty="0"/>
          </a:p>
        </p:txBody>
      </p:sp>
      <p:sp>
        <p:nvSpPr>
          <p:cNvPr id="14" name="Relation"/>
          <p:cNvSpPr/>
          <p:nvPr/>
        </p:nvSpPr>
        <p:spPr>
          <a:xfrm>
            <a:off x="2148840" y="2798064"/>
            <a:ext cx="45720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5" name="Cardinality"/>
          <p:cNvSpPr txBox="1"/>
          <p:nvPr/>
        </p:nvSpPr>
        <p:spPr>
          <a:xfrm>
            <a:off x="2103120" y="2560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1:N</a:t>
            </a:r>
            <a:endParaRPr lang="en-US" sz="950" dirty="0"/>
          </a:p>
        </p:txBody>
      </p:sp>
      <p:sp>
        <p:nvSpPr>
          <p:cNvPr id="16" name="Relation"/>
          <p:cNvSpPr/>
          <p:nvPr/>
        </p:nvSpPr>
        <p:spPr>
          <a:xfrm>
            <a:off x="4297680" y="2798064"/>
            <a:ext cx="45720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7" name="Cardinality"/>
          <p:cNvSpPr txBox="1"/>
          <p:nvPr/>
        </p:nvSpPr>
        <p:spPr>
          <a:xfrm>
            <a:off x="4251960" y="2560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log</a:t>
            </a:r>
            <a:endParaRPr lang="en-US" sz="950" dirty="0"/>
          </a:p>
        </p:txBody>
      </p:sp>
      <p:sp>
        <p:nvSpPr>
          <p:cNvPr id="18" name="Relation"/>
          <p:cNvSpPr/>
          <p:nvPr/>
        </p:nvSpPr>
        <p:spPr>
          <a:xfrm>
            <a:off x="3451860" y="1938528"/>
            <a:ext cx="0" cy="530352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9" name="Cardinality"/>
          <p:cNvSpPr txBox="1"/>
          <p:nvPr/>
        </p:nvSpPr>
        <p:spPr>
          <a:xfrm>
            <a:off x="3520440" y="2103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1:N</a:t>
            </a:r>
            <a:endParaRPr lang="en-US" sz="950" dirty="0"/>
          </a:p>
        </p:txBody>
      </p:sp>
      <p:sp>
        <p:nvSpPr>
          <p:cNvPr id="20" name="Entity PAYMENTS"/>
          <p:cNvSpPr txBox="1"/>
          <p:nvPr/>
        </p:nvSpPr>
        <p:spPr>
          <a:xfrm>
            <a:off x="457200" y="3794760"/>
            <a:ext cx="1691640" cy="658368"/>
          </a:xfrm>
          <a:prstGeom prst="roundRect">
            <a:avLst>
              <a:gd name="adj" fmla="val 11111"/>
            </a:avLst>
          </a:prstGeom>
          <a:solidFill>
            <a:schemeClr val="accent4">
              <a:alpha val="22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payment_id, amount, status, transaction_ref</a:t>
            </a:r>
            <a:endParaRPr lang="en-US" sz="1200" dirty="0"/>
          </a:p>
        </p:txBody>
      </p:sp>
      <p:sp>
        <p:nvSpPr>
          <p:cNvPr id="21" name="Entity VEHICLE_RETURNS"/>
          <p:cNvSpPr txBox="1"/>
          <p:nvPr/>
        </p:nvSpPr>
        <p:spPr>
          <a:xfrm>
            <a:off x="2606040" y="3794760"/>
            <a:ext cx="1691640" cy="658368"/>
          </a:xfrm>
          <a:prstGeom prst="roundRect">
            <a:avLst>
              <a:gd name="adj" fmla="val 11111"/>
            </a:avLst>
          </a:prstGeom>
          <a:solidFill>
            <a:schemeClr val="accent6">
              <a:alpha val="22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VEHICLE_RETURNS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late_fee, damage_charge, odometer</a:t>
            </a:r>
            <a:endParaRPr lang="en-US" sz="1200" dirty="0"/>
          </a:p>
        </p:txBody>
      </p:sp>
      <p:sp>
        <p:nvSpPr>
          <p:cNvPr id="22" name="Entity REVIEWS"/>
          <p:cNvSpPr txBox="1"/>
          <p:nvPr/>
        </p:nvSpPr>
        <p:spPr>
          <a:xfrm>
            <a:off x="4754880" y="3794760"/>
            <a:ext cx="1691640" cy="658368"/>
          </a:xfrm>
          <a:prstGeom prst="roundRect">
            <a:avLst>
              <a:gd name="adj" fmla="val 11111"/>
            </a:avLst>
          </a:prstGeom>
          <a:solidFill>
            <a:schemeClr val="accent2">
              <a:alpha val="22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REVIEWS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rating (1–5), comment</a:t>
            </a:r>
            <a:endParaRPr lang="en-US" sz="1200" dirty="0"/>
          </a:p>
        </p:txBody>
      </p:sp>
      <p:sp>
        <p:nvSpPr>
          <p:cNvPr id="23" name="Relation"/>
          <p:cNvSpPr/>
          <p:nvPr/>
        </p:nvSpPr>
        <p:spPr>
          <a:xfrm>
            <a:off x="3451860" y="3127248"/>
            <a:ext cx="0" cy="32918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4" name="Relation"/>
          <p:cNvSpPr/>
          <p:nvPr/>
        </p:nvSpPr>
        <p:spPr>
          <a:xfrm>
            <a:off x="1303020" y="3456432"/>
            <a:ext cx="429768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5" name="Relation"/>
          <p:cNvSpPr/>
          <p:nvPr/>
        </p:nvSpPr>
        <p:spPr>
          <a:xfrm>
            <a:off x="1303020" y="3456432"/>
            <a:ext cx="0" cy="338328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6" name="Relation"/>
          <p:cNvSpPr/>
          <p:nvPr/>
        </p:nvSpPr>
        <p:spPr>
          <a:xfrm>
            <a:off x="3451860" y="3456432"/>
            <a:ext cx="0" cy="338328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7" name="Relation"/>
          <p:cNvSpPr/>
          <p:nvPr/>
        </p:nvSpPr>
        <p:spPr>
          <a:xfrm>
            <a:off x="5600700" y="3456432"/>
            <a:ext cx="0" cy="338328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8" name="Cardinality"/>
          <p:cNvSpPr txBox="1"/>
          <p:nvPr/>
        </p:nvSpPr>
        <p:spPr>
          <a:xfrm>
            <a:off x="1371600" y="3547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1:N</a:t>
            </a:r>
            <a:endParaRPr lang="en-US" sz="950" dirty="0"/>
          </a:p>
        </p:txBody>
      </p:sp>
      <p:sp>
        <p:nvSpPr>
          <p:cNvPr id="29" name="Cardinality"/>
          <p:cNvSpPr txBox="1"/>
          <p:nvPr/>
        </p:nvSpPr>
        <p:spPr>
          <a:xfrm>
            <a:off x="3520440" y="3547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1:0..1</a:t>
            </a:r>
            <a:endParaRPr lang="en-US" sz="950" dirty="0"/>
          </a:p>
        </p:txBody>
      </p:sp>
      <p:sp>
        <p:nvSpPr>
          <p:cNvPr id="30" name="Cardinality"/>
          <p:cNvSpPr txBox="1"/>
          <p:nvPr/>
        </p:nvSpPr>
        <p:spPr>
          <a:xfrm>
            <a:off x="5669280" y="3547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1:0..1</a:t>
            </a:r>
            <a:endParaRPr lang="en-US" sz="950" dirty="0"/>
          </a:p>
        </p:txBody>
      </p:sp>
      <p:sp>
        <p:nvSpPr>
          <p:cNvPr id="31" name="Highlights"/>
          <p:cNvSpPr txBox="1"/>
          <p:nvPr/>
        </p:nvSpPr>
        <p:spPr>
          <a:xfrm>
            <a:off x="6720840" y="1280160"/>
            <a:ext cx="1965960" cy="3200400"/>
          </a:xfrm>
          <a:prstGeom prst="roundRect">
            <a:avLst>
              <a:gd name="adj" fmla="val 4651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lIns="127000" tIns="127000" rIns="1270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Design highlights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3NF: category and location details kept in their own tables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Index on bookings (vehicle_id, start, end) speeds overlap checks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CHECK: rate &gt; 0, end &gt; start, rating 1–5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Foreign keys use RESTRICT to protect history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total_amount stored so the agreed price stays fixed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Double-Booking Prevention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Transaction-safe booking with row-level locking</a:t>
            </a:r>
            <a:endParaRPr lang="en-US" sz="1300" dirty="0"/>
          </a:p>
        </p:txBody>
      </p:sp>
      <p:sp>
        <p:nvSpPr>
          <p:cNvPr id="4" name="Step card"/>
          <p:cNvSpPr/>
          <p:nvPr/>
        </p:nvSpPr>
        <p:spPr>
          <a:xfrm>
            <a:off x="457200" y="1280160"/>
            <a:ext cx="411480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566928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tep text"/>
          <p:cNvSpPr txBox="1"/>
          <p:nvPr/>
        </p:nvSpPr>
        <p:spPr>
          <a:xfrm>
            <a:off x="1051560" y="12801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Lock the vehicle row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SELECT … FOR UPDATE makes concurrent requests wait.</a:t>
            </a:r>
            <a:endParaRPr lang="en-US" sz="1300" dirty="0"/>
          </a:p>
        </p:txBody>
      </p:sp>
      <p:sp>
        <p:nvSpPr>
          <p:cNvPr id="7" name="Step card"/>
          <p:cNvSpPr/>
          <p:nvPr/>
        </p:nvSpPr>
        <p:spPr>
          <a:xfrm>
            <a:off x="457200" y="2121408"/>
            <a:ext cx="4114800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566928" y="230428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Step text"/>
          <p:cNvSpPr txBox="1"/>
          <p:nvPr/>
        </p:nvSpPr>
        <p:spPr>
          <a:xfrm>
            <a:off x="1051560" y="2121408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Check for overlap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Reject if an active booking overlaps the period.</a:t>
            </a:r>
            <a:endParaRPr lang="en-US" sz="1300" dirty="0"/>
          </a:p>
        </p:txBody>
      </p:sp>
      <p:sp>
        <p:nvSpPr>
          <p:cNvPr id="10" name="Step card"/>
          <p:cNvSpPr/>
          <p:nvPr/>
        </p:nvSpPr>
        <p:spPr>
          <a:xfrm>
            <a:off x="457200" y="2962656"/>
            <a:ext cx="411480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11" name="Badge 3"/>
          <p:cNvSpPr txBox="1"/>
          <p:nvPr/>
        </p:nvSpPr>
        <p:spPr>
          <a:xfrm>
            <a:off x="566928" y="314553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Step text"/>
          <p:cNvSpPr txBox="1"/>
          <p:nvPr/>
        </p:nvSpPr>
        <p:spPr>
          <a:xfrm>
            <a:off x="1051560" y="2962656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Calculate price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Rounded-up 24-hour blocks × daily rate.</a:t>
            </a:r>
            <a:endParaRPr lang="en-US" sz="1300" dirty="0"/>
          </a:p>
        </p:txBody>
      </p:sp>
      <p:sp>
        <p:nvSpPr>
          <p:cNvPr id="13" name="Step card"/>
          <p:cNvSpPr/>
          <p:nvPr/>
        </p:nvSpPr>
        <p:spPr>
          <a:xfrm>
            <a:off x="457200" y="3803904"/>
            <a:ext cx="4114800" cy="731520"/>
          </a:xfrm>
          <a:prstGeom prst="roundRect">
            <a:avLst>
              <a:gd name="adj" fmla="val 12500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14" name="Badge 4"/>
          <p:cNvSpPr txBox="1"/>
          <p:nvPr/>
        </p:nvSpPr>
        <p:spPr>
          <a:xfrm>
            <a:off x="566928" y="39867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Step text"/>
          <p:cNvSpPr txBox="1"/>
          <p:nvPr/>
        </p:nvSpPr>
        <p:spPr>
          <a:xfrm>
            <a:off x="1051560" y="380390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Insert and COMMIT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 a clash: ROLLBACK and return HTTP 409.</a:t>
            </a:r>
            <a:endParaRPr lang="en-US" sz="1300" dirty="0"/>
          </a:p>
        </p:txBody>
      </p:sp>
      <p:sp>
        <p:nvSpPr>
          <p:cNvPr id="16" name="Code card"/>
          <p:cNvSpPr/>
          <p:nvPr/>
        </p:nvSpPr>
        <p:spPr>
          <a:xfrm>
            <a:off x="4846320" y="1280160"/>
            <a:ext cx="3840480" cy="3255264"/>
          </a:xfrm>
          <a:prstGeom prst="roundRect">
            <a:avLst>
              <a:gd name="adj" fmla="val 2809"/>
            </a:avLst>
          </a:prstGeom>
          <a:solidFill>
            <a:schemeClr val="tx1"/>
          </a:solidFill>
          <a:ln/>
        </p:spPr>
      </p:sp>
      <p:sp>
        <p:nvSpPr>
          <p:cNvPr id="17" name="SQL snippet"/>
          <p:cNvSpPr txBox="1"/>
          <p:nvPr/>
        </p:nvSpPr>
        <p:spPr>
          <a:xfrm>
            <a:off x="4983480" y="13716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daily_rate FROM vehicles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vehicle_id = ? FOR UPDATE;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booking_id FROM bookings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vehicle_id = 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status IN ('pending',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'confirmed','active')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start_datetime &lt; :end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end_datetime   &gt; :start;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clash?  ROLLBACK + HTTP 409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bookings (...);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100" dirty="0"/>
          </a:p>
        </p:txBody>
      </p:sp>
      <p:sp>
        <p:nvSpPr>
          <p:cNvPr id="18" name="Snippet caption"/>
          <p:cNvSpPr txBox="1"/>
          <p:nvPr/>
        </p:nvSpPr>
        <p:spPr>
          <a:xfrm>
            <a:off x="4983480" y="3794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The second request waits, then sees the first booking and is rejected: ACID isolation in practice.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REST API Endpoints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Main endpoints exposed by the Express back end</a:t>
            </a:r>
            <a:endParaRPr lang="en-US" sz="1300" dirty="0"/>
          </a:p>
        </p:txBody>
      </p:sp>
      <p:graphicFrame>
        <p:nvGraphicFramePr>
          <p:cNvPr id="12" name="Endpoi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834640"/>
                <a:gridCol w="356616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Access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/api/auth/register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Register a new customer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/api/auth/login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Log in and receive a JWT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/api/vehicles/available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Vehicles free for location and period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/api/bookings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Create a booking (transaction-safe)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Customer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/api/bookings/:id/cancel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Cancel a booking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Customer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/api/payments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Record payment for a booking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Customer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/api/returns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Record vehicle return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/api/vehicles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Add a vehicle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/api/admin/reports/revenue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Revenue report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Implementation: DriveEase Prototype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Working front-end screens of the self-service rental flow</a:t>
            </a:r>
            <a:endParaRPr lang="en-US" sz="1300" dirty="0"/>
          </a:p>
        </p:txBody>
      </p:sp>
      <p:sp>
        <p:nvSpPr>
          <p:cNvPr id="4" name="Flow list"/>
          <p:cNvSpPr txBox="1"/>
          <p:nvPr/>
        </p:nvSpPr>
        <p:spPr>
          <a:xfrm>
            <a:off x="457200" y="1280160"/>
            <a:ext cx="3017520" cy="2331720"/>
          </a:xfrm>
          <a:prstGeom prst="roundRect">
            <a:avLst>
              <a:gd name="adj" fmla="val 3922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lIns="127000" tIns="127000" rIns="1270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Flow demonstrated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Home, search and filters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Car details, compare, reviews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Booking, licence upload, coupons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Payment and confirmation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Digital vehicle pass for self-service pickup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My bookings and admin dashboard</a:t>
            </a:r>
            <a:endParaRPr lang="en-US" sz="1150" dirty="0"/>
          </a:p>
        </p:txBody>
      </p:sp>
      <p:sp>
        <p:nvSpPr>
          <p:cNvPr id="5" name="Prototype note"/>
          <p:cNvSpPr txBox="1"/>
          <p:nvPr/>
        </p:nvSpPr>
        <p:spPr>
          <a:xfrm>
            <a:off x="457200" y="374904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accent4">
              <a:alpha val="14000"/>
            </a:schemeClr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Front-end prototype: data is simulated in browser localStorage, standing in for the relational tables. Payment, licence check and GPS are simulated.</a:t>
            </a:r>
            <a:endParaRPr lang="en-US" sz="1050" dirty="0"/>
          </a:p>
        </p:txBody>
      </p:sp>
      <p:pic>
        <p:nvPicPr>
          <p:cNvPr id="6" name="Screenshot Home" descr="img/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280160"/>
            <a:ext cx="2377440" cy="148590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3749040" y="27706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Home</a:t>
            </a:r>
            <a:endParaRPr lang="en-US" sz="1000" dirty="0"/>
          </a:p>
        </p:txBody>
      </p:sp>
      <p:pic>
        <p:nvPicPr>
          <p:cNvPr id="8" name="Screenshot Available cars" descr="img/cars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0160"/>
            <a:ext cx="2377440" cy="148590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263640" y="27706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Available cars</a:t>
            </a:r>
            <a:endParaRPr lang="en-US" sz="1000" dirty="0"/>
          </a:p>
        </p:txBody>
      </p:sp>
      <p:pic>
        <p:nvPicPr>
          <p:cNvPr id="10" name="Screenshot Digital vehicle pass" descr="img/self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971800"/>
            <a:ext cx="2377440" cy="148590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3749040" y="44622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Digital vehicle pass</a:t>
            </a:r>
            <a:endParaRPr lang="en-US" sz="1000" dirty="0"/>
          </a:p>
        </p:txBody>
      </p:sp>
      <p:pic>
        <p:nvPicPr>
          <p:cNvPr id="12" name="Screenshot Admin dashboard" descr="img/admin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971800"/>
            <a:ext cx="2377440" cy="1485900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6263640" y="44622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Admin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Tools selected for the project</a:t>
            </a:r>
            <a:endParaRPr lang="en-US" sz="1300" dirty="0"/>
          </a:p>
        </p:txBody>
      </p:sp>
      <p:sp>
        <p:nvSpPr>
          <p:cNvPr id="4" name="Tech row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5" name="Tech name"/>
          <p:cNvSpPr txBox="1"/>
          <p:nvPr/>
        </p:nvSpPr>
        <p:spPr>
          <a:xfrm>
            <a:off x="640080" y="12801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HTML5, CSS3, JavaScript</a:t>
            </a:r>
            <a:endParaRPr lang="en-US" sz="1400" dirty="0"/>
          </a:p>
        </p:txBody>
      </p:sp>
      <p:sp>
        <p:nvSpPr>
          <p:cNvPr id="6" name="Tech purpose"/>
          <p:cNvSpPr txBox="1"/>
          <p:nvPr/>
        </p:nvSpPr>
        <p:spPr>
          <a:xfrm>
            <a:off x="3383280" y="128016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Responsive card-based interface; fetch calls to the REST API.</a:t>
            </a:r>
            <a:endParaRPr lang="en-US" sz="1300" dirty="0"/>
          </a:p>
        </p:txBody>
      </p:sp>
      <p:sp>
        <p:nvSpPr>
          <p:cNvPr id="7" name="Tech row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8" name="Tech name"/>
          <p:cNvSpPr txBox="1"/>
          <p:nvPr/>
        </p:nvSpPr>
        <p:spPr>
          <a:xfrm>
            <a:off x="640080" y="18470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Node.js + Express.js</a:t>
            </a:r>
            <a:endParaRPr lang="en-US" sz="1400" dirty="0"/>
          </a:p>
        </p:txBody>
      </p:sp>
      <p:sp>
        <p:nvSpPr>
          <p:cNvPr id="9" name="Tech purpose"/>
          <p:cNvSpPr txBox="1"/>
          <p:nvPr/>
        </p:nvSpPr>
        <p:spPr>
          <a:xfrm>
            <a:off x="3383280" y="184708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Event-driven server, routing, middleware and REST endpoints.</a:t>
            </a:r>
            <a:endParaRPr lang="en-US" sz="1300" dirty="0"/>
          </a:p>
        </p:txBody>
      </p:sp>
      <p:sp>
        <p:nvSpPr>
          <p:cNvPr id="10" name="Tech row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11" name="Tech name"/>
          <p:cNvSpPr txBox="1"/>
          <p:nvPr/>
        </p:nvSpPr>
        <p:spPr>
          <a:xfrm>
            <a:off x="640080" y="24140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MySQL (InnoDB)</a:t>
            </a:r>
            <a:endParaRPr lang="en-US" sz="1400" dirty="0"/>
          </a:p>
        </p:txBody>
      </p:sp>
      <p:sp>
        <p:nvSpPr>
          <p:cNvPr id="12" name="Tech purpose"/>
          <p:cNvSpPr txBox="1"/>
          <p:nvPr/>
        </p:nvSpPr>
        <p:spPr>
          <a:xfrm>
            <a:off x="3383280" y="241401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Relational store with ACID transactions, row-level locking and foreign keys.</a:t>
            </a:r>
            <a:endParaRPr lang="en-US" sz="1300" dirty="0"/>
          </a:p>
        </p:txBody>
      </p:sp>
      <p:sp>
        <p:nvSpPr>
          <p:cNvPr id="13" name="Tech row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14" name="Tech name"/>
          <p:cNvSpPr txBox="1"/>
          <p:nvPr/>
        </p:nvSpPr>
        <p:spPr>
          <a:xfrm>
            <a:off x="640080" y="29809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JWT + bcrypt</a:t>
            </a:r>
            <a:endParaRPr lang="en-US" sz="1400" dirty="0"/>
          </a:p>
        </p:txBody>
      </p:sp>
      <p:sp>
        <p:nvSpPr>
          <p:cNvPr id="15" name="Tech purpose"/>
          <p:cNvSpPr txBox="1"/>
          <p:nvPr/>
        </p:nvSpPr>
        <p:spPr>
          <a:xfrm>
            <a:off x="3383280" y="298094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Password hashing and token-based, role-aware access control.</a:t>
            </a:r>
            <a:endParaRPr lang="en-US" sz="1300" dirty="0"/>
          </a:p>
        </p:txBody>
      </p:sp>
      <p:sp>
        <p:nvSpPr>
          <p:cNvPr id="16" name="Tech row"/>
          <p:cNvSpPr/>
          <p:nvPr/>
        </p:nvSpPr>
        <p:spPr>
          <a:xfrm>
            <a:off x="457200" y="3547872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accent5">
              <a:alpha val="14000"/>
            </a:schemeClr>
          </a:solidFill>
          <a:ln/>
        </p:spPr>
      </p:sp>
      <p:sp>
        <p:nvSpPr>
          <p:cNvPr id="17" name="Tech name"/>
          <p:cNvSpPr txBox="1"/>
          <p:nvPr/>
        </p:nvSpPr>
        <p:spPr>
          <a:xfrm>
            <a:off x="640080" y="3547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Postman</a:t>
            </a:r>
            <a:endParaRPr lang="en-US" sz="1400" dirty="0"/>
          </a:p>
        </p:txBody>
      </p:sp>
      <p:sp>
        <p:nvSpPr>
          <p:cNvPr id="18" name="Tech purpose"/>
          <p:cNvSpPr txBox="1"/>
          <p:nvPr/>
        </p:nvSpPr>
        <p:spPr>
          <a:xfrm>
            <a:off x="3383280" y="354787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Designs, sends and automates API test requests.</a:t>
            </a:r>
            <a:endParaRPr lang="en-US" sz="1300" dirty="0"/>
          </a:p>
        </p:txBody>
      </p:sp>
      <p:sp>
        <p:nvSpPr>
          <p:cNvPr id="19" name="Tech row"/>
          <p:cNvSpPr/>
          <p:nvPr/>
        </p:nvSpPr>
        <p:spPr>
          <a:xfrm>
            <a:off x="457200" y="411480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20" name="Tech name"/>
          <p:cNvSpPr txBox="1"/>
          <p:nvPr/>
        </p:nvSpPr>
        <p:spPr>
          <a:xfrm>
            <a:off x="640080" y="4114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 &amp; GitHub</a:t>
            </a:r>
            <a:endParaRPr lang="en-US" sz="1400" dirty="0"/>
          </a:p>
        </p:txBody>
      </p:sp>
      <p:sp>
        <p:nvSpPr>
          <p:cNvPr id="21" name="Tech purpose"/>
          <p:cNvSpPr txBox="1"/>
          <p:nvPr/>
        </p:nvSpPr>
        <p:spPr>
          <a:xfrm>
            <a:off x="3383280" y="41148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Feature branches, pull requests and shared source code.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Summary and next development steps</a:t>
            </a:r>
            <a:endParaRPr lang="en-US" sz="1300" dirty="0"/>
          </a:p>
        </p:txBody>
      </p:sp>
      <p:sp>
        <p:nvSpPr>
          <p:cNvPr id="4" name="Conclusion"/>
          <p:cNvSpPr txBox="1"/>
          <p:nvPr/>
        </p:nvSpPr>
        <p:spPr>
          <a:xfrm>
            <a:off x="457200" y="1280160"/>
            <a:ext cx="3931920" cy="2788920"/>
          </a:xfrm>
          <a:prstGeom prst="roundRect">
            <a:avLst>
              <a:gd name="adj" fmla="val 3279"/>
            </a:avLst>
          </a:prstGeom>
          <a:solidFill>
            <a:schemeClr val="accent1">
              <a:alpha val="14000"/>
            </a:schemeClr>
          </a:solidFill>
          <a:ln/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Conclusion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Moves car rental from counters and paperwork to one self-service platform.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Real-time availability, automatic pricing and online payment.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Locking transactions prevent double booking.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3NF schema applies ER modelling, advanced SQL, views and triggers.</a:t>
            </a:r>
            <a:endParaRPr lang="en-US" sz="1300" dirty="0"/>
          </a:p>
        </p:txBody>
      </p:sp>
      <p:sp>
        <p:nvSpPr>
          <p:cNvPr id="5" name="Future scope"/>
          <p:cNvSpPr txBox="1"/>
          <p:nvPr/>
        </p:nvSpPr>
        <p:spPr>
          <a:xfrm>
            <a:off x="4754880" y="1280160"/>
            <a:ext cx="3931920" cy="2788920"/>
          </a:xfrm>
          <a:prstGeom prst="roundRect">
            <a:avLst>
              <a:gd name="adj" fmla="val 3279"/>
            </a:avLst>
          </a:prstGeom>
          <a:solidFill>
            <a:schemeClr val="accent2">
              <a:alpha val="14000"/>
            </a:schemeClr>
          </a:solidFill>
          <a:ln/>
        </p:spPr>
        <p:txBody>
          <a:bodyPr wrap="square" lIns="127000" tIns="152400" rIns="152400" bIns="1016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Future scope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 GPS tracking and keyless / smart-lock access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payment gateway and digital document verification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recommendations and dynamic pricing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 charging integration and push notifications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Native mobile apps and multi-city expansion</a:t>
            </a:r>
            <a:endParaRPr lang="en-US" sz="1300" dirty="0"/>
          </a:p>
        </p:txBody>
      </p:sp>
      <p:sp>
        <p:nvSpPr>
          <p:cNvPr id="6" name="Callout"/>
          <p:cNvSpPr txBox="1"/>
          <p:nvPr/>
        </p:nvSpPr>
        <p:spPr>
          <a:xfrm>
            <a:off x="2834640" y="4206240"/>
            <a:ext cx="3474720" cy="411480"/>
          </a:xfrm>
          <a:prstGeom prst="roundRect">
            <a:avLst>
              <a:gd name="adj" fmla="val 33333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THANK YOU  •  QUESTIONS?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iveEase">
  <a:themeElements>
    <a:clrScheme name="DriveEase">
      <a:dk1>
        <a:srgbClr val="14213D"/>
      </a:dk1>
      <a:lt1>
        <a:srgbClr val="FFFFFF"/>
      </a:lt1>
      <a:dk2>
        <a:srgbClr val="4A5568"/>
      </a:dk2>
      <a:lt2>
        <a:srgbClr val="F6F8FC"/>
      </a:lt2>
      <a:accent1>
        <a:srgbClr val="3B5BDB"/>
      </a:accent1>
      <a:accent2>
        <a:srgbClr val="2F9E6B"/>
      </a:accent2>
      <a:accent3>
        <a:srgbClr val="7048C6"/>
      </a:accent3>
      <a:accent4>
        <a:srgbClr val="E08A1E"/>
      </a:accent4>
      <a:accent5>
        <a:srgbClr val="12A19A"/>
      </a:accent5>
      <a:accent6>
        <a:srgbClr val="D64550"/>
      </a:accent6>
      <a:hlink>
        <a:srgbClr val="3B5BDB"/>
      </a:hlink>
      <a:folHlink>
        <a:srgbClr val="7048C6"/>
      </a:folHlink>
    </a:clrScheme>
    <a:fontScheme name="DriveEa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Rentals &amp; Mobility App for Rental Self Service</dc:title>
  <dc:subject>PptxGenJS Presentation</dc:subject>
  <dc:creator>Akshith Reddy, B. Pranavi, V. Charishma</dc:creator>
  <cp:lastModifiedBy>Akshith Reddy, B. Pranavi, V. Charishma</cp:lastModifiedBy>
  <cp:revision>1</cp:revision>
  <dcterms:created xsi:type="dcterms:W3CDTF">2026-10-02T11:16:56Z</dcterms:created>
  <dcterms:modified xsi:type="dcterms:W3CDTF">2026-10-02T11:16:56Z</dcterms:modified>
</cp:coreProperties>
</file>